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I'm excited to present Talk2Tasks AI, a privacy-first desktop meeting intelligence platform. Unlike traditional meeting recorders that require invasive cloud bots to join calls, Talk2Tasks AI runs natively on your desktop. It captures dual audio, transcribes multilingual conversations with Faster-Whisper, and extracts actionable commitments in real time.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why traditional solutions like Otter or Fireflies fail in modern enterprises. They rely on bots that clients and IT security block. Furthermore, global meetings involve multilingual code-switching. Talk2Tasks solves this by capturing system audio directly with zero bots, protecting privacy, and supporting 99+ languages.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illustrates our 5-tier architecture. First, the dual-stream mixer captures both system loopback and mic audio. Next, Faster-Whisper transcribes speech locally in 5-second slices with automatic multi-language detection. Finally, our LLM engine parses transcript segments into structured notes, tasks, and follow-up emails.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can see the Live Assistant screen. The dual audio meters confirm that both meeting participants and the user's voice are capturing. Notice the blue language badge confirming automatic multilingual detection. On the right, action items and decisions appear instantly while the meeting is ongoing.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 is our interactive desktop mascot. Instead of an ugly rectangular app window, Talki is a transparent companion. It reacts to participant voices with a blue listening pulse, and pops up speech bubbles whenever someone commits to a deliverable. Users can control their recording with one-click transparent dock buttons.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Talk2Tasks AI delivers actionable outcomes immediately after a meeting ends. Teams save an average of 80% on post-meeting documentation time. With enterprise privacy, zero bots, and multilingual support, Talk2Tasks AI is the future of intelligent desktop collaboration.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914400" y="1097280"/>
            <a:ext cx="3108960" cy="384048"/>
          </a:xfrm>
          <a:prstGeom prst="roundRect">
            <a:avLst/>
          </a:prstGeom>
          <a:solidFill>
            <a:srgbClr val="EFF6FF"/>
          </a:solidFill>
          <a:ln>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2563EB"/>
                </a:solidFill>
              </a:defRPr>
            </a:pPr>
            <a:r>
              <a:t>PRIVACY-FIRST GENAI PROJECT</a:t>
            </a:r>
          </a:p>
        </p:txBody>
      </p:sp>
      <p:sp>
        <p:nvSpPr>
          <p:cNvPr id="3" name="TextBox 2"/>
          <p:cNvSpPr txBox="1"/>
          <p:nvPr/>
        </p:nvSpPr>
        <p:spPr>
          <a:xfrm>
            <a:off x="914400" y="1645920"/>
            <a:ext cx="6217920" cy="1645920"/>
          </a:xfrm>
          <a:prstGeom prst="rect">
            <a:avLst/>
          </a:prstGeom>
          <a:noFill/>
        </p:spPr>
        <p:txBody>
          <a:bodyPr wrap="square">
            <a:spAutoFit/>
          </a:bodyPr>
          <a:lstStyle/>
          <a:p>
            <a:pPr>
              <a:defRPr sz="4400" b="1">
                <a:solidFill>
                  <a:srgbClr val="0F172A"/>
                </a:solidFill>
              </a:defRPr>
            </a:pPr>
            <a:r>
              <a:t>Talk2Tasks AI</a:t>
            </a:r>
          </a:p>
          <a:p>
            <a:pPr>
              <a:spcBef>
                <a:spcPts val="800"/>
              </a:spcBef>
              <a:defRPr sz="2000">
                <a:solidFill>
                  <a:srgbClr val="2563EB"/>
                </a:solidFill>
              </a:defRPr>
            </a:pPr>
            <a:r>
              <a:t>Desktop Meeting Intelligence &amp; Live Multilingual AI Companion</a:t>
            </a:r>
          </a:p>
        </p:txBody>
      </p:sp>
      <p:sp>
        <p:nvSpPr>
          <p:cNvPr id="4" name="TextBox 3"/>
          <p:cNvSpPr txBox="1"/>
          <p:nvPr/>
        </p:nvSpPr>
        <p:spPr>
          <a:xfrm>
            <a:off x="914400" y="3474720"/>
            <a:ext cx="6217920" cy="2011680"/>
          </a:xfrm>
          <a:prstGeom prst="rect">
            <a:avLst/>
          </a:prstGeom>
          <a:noFill/>
        </p:spPr>
        <p:txBody>
          <a:bodyPr wrap="square">
            <a:spAutoFit/>
          </a:bodyPr>
          <a:lstStyle/>
          <a:p/>
          <a:p>
            <a:pPr>
              <a:spcAft>
                <a:spcPts val="600"/>
              </a:spcAft>
              <a:defRPr sz="1300">
                <a:solidFill>
                  <a:srgbClr val="475569"/>
                </a:solidFill>
              </a:defRPr>
            </a:pPr>
            <a:r>
              <a:t>• 100% Zero-Bot Architecture — Captures system audio without external bots.</a:t>
            </a:r>
          </a:p>
          <a:p>
            <a:pPr>
              <a:spcAft>
                <a:spcPts val="600"/>
              </a:spcAft>
              <a:defRPr sz="1300">
                <a:solidFill>
                  <a:srgbClr val="475569"/>
                </a:solidFill>
              </a:defRPr>
            </a:pPr>
            <a:r>
              <a:t>• Real-Time Multilingual Detection — Whisper STT auto-detects 99+ languages.</a:t>
            </a:r>
          </a:p>
          <a:p>
            <a:pPr>
              <a:spcAft>
                <a:spcPts val="600"/>
              </a:spcAft>
              <a:defRPr sz="1300">
                <a:solidFill>
                  <a:srgbClr val="475569"/>
                </a:solidFill>
              </a:defRPr>
            </a:pPr>
            <a:r>
              <a:t>• Hybrid AI Engine — Custom NVIDIA NIM API + Offline Ollama + Rule Fallback.</a:t>
            </a:r>
          </a:p>
          <a:p>
            <a:pPr>
              <a:spcAft>
                <a:spcPts val="600"/>
              </a:spcAft>
              <a:defRPr sz="1300">
                <a:solidFill>
                  <a:srgbClr val="475569"/>
                </a:solidFill>
              </a:defRPr>
            </a:pPr>
            <a:r>
              <a:t>• Interactive Desktop Mascot — Transparent floating companion with speech alerts.</a:t>
            </a:r>
          </a:p>
        </p:txBody>
      </p:sp>
      <p:pic>
        <p:nvPicPr>
          <p:cNvPr id="5" name="Picture 4" descr="talki_cute_pet_mascot_1793054022234.jpg"/>
          <p:cNvPicPr>
            <a:picLocks noChangeAspect="1"/>
          </p:cNvPicPr>
          <p:nvPr/>
        </p:nvPicPr>
        <p:blipFill>
          <a:blip r:embed="rId2"/>
          <a:stretch>
            <a:fillRect/>
          </a:stretch>
        </p:blipFill>
        <p:spPr>
          <a:xfrm>
            <a:off x="7498079" y="1097280"/>
            <a:ext cx="3931920" cy="39319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2926080" cy="347472"/>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THE PROBLEM</a:t>
            </a:r>
          </a:p>
        </p:txBody>
      </p:sp>
      <p:sp>
        <p:nvSpPr>
          <p:cNvPr id="3" name="TextBox 2"/>
          <p:cNvSpPr txBox="1"/>
          <p:nvPr/>
        </p:nvSpPr>
        <p:spPr>
          <a:xfrm>
            <a:off x="731520" y="777240"/>
            <a:ext cx="10515600" cy="731520"/>
          </a:xfrm>
          <a:prstGeom prst="rect">
            <a:avLst/>
          </a:prstGeom>
          <a:noFill/>
        </p:spPr>
        <p:txBody>
          <a:bodyPr wrap="none">
            <a:spAutoFit/>
          </a:bodyPr>
          <a:lstStyle/>
          <a:p>
            <a:pPr>
              <a:defRPr sz="2800" b="1">
                <a:solidFill>
                  <a:srgbClr val="0F172A"/>
                </a:solidFill>
              </a:defRPr>
            </a:pPr>
            <a:r>
              <a:t>The Meeting Dilemma: Privacy, Security &amp; Language Gaps</a:t>
            </a:r>
          </a:p>
        </p:txBody>
      </p:sp>
      <p:sp>
        <p:nvSpPr>
          <p:cNvPr id="4" name="TextBox 3"/>
          <p:cNvSpPr txBox="1"/>
          <p:nvPr/>
        </p:nvSpPr>
        <p:spPr>
          <a:xfrm>
            <a:off x="731520" y="1645920"/>
            <a:ext cx="5303520" cy="4389120"/>
          </a:xfrm>
          <a:prstGeom prst="rect">
            <a:avLst/>
          </a:prstGeom>
          <a:noFill/>
        </p:spPr>
        <p:txBody>
          <a:bodyPr wrap="square">
            <a:spAutoFit/>
          </a:bodyPr>
          <a:lstStyle/>
          <a:p/>
          <a:p>
            <a:pPr>
              <a:spcBef>
                <a:spcPts val="800"/>
              </a:spcBef>
              <a:defRPr sz="1500" b="1">
                <a:solidFill>
                  <a:srgbClr val="0F172A"/>
                </a:solidFill>
              </a:defRPr>
            </a:pPr>
            <a:r>
              <a:t>⚠️  The Cloud Bot Security Risk</a:t>
            </a:r>
          </a:p>
          <a:p>
            <a:pPr>
              <a:spcAft>
                <a:spcPts val="800"/>
              </a:spcAft>
              <a:defRPr sz="1200">
                <a:solidFill>
                  <a:srgbClr val="475569"/>
                </a:solidFill>
              </a:defRPr>
            </a:pPr>
            <a:r>
              <a:t>Corporate Google Meet, Zoom, and Teams meetings increasingly ban 3rd-party bots due to data compliance and IP privacy.</a:t>
            </a:r>
          </a:p>
          <a:p>
            <a:pPr>
              <a:spcBef>
                <a:spcPts val="800"/>
              </a:spcBef>
              <a:defRPr sz="1500" b="1">
                <a:solidFill>
                  <a:srgbClr val="0F172A"/>
                </a:solidFill>
              </a:defRPr>
            </a:pPr>
            <a:r>
              <a:t>⚠️  Post-Meeting Action Item Slip</a:t>
            </a:r>
          </a:p>
          <a:p>
            <a:pPr>
              <a:spcAft>
                <a:spcPts val="800"/>
              </a:spcAft>
              <a:defRPr sz="1200">
                <a:solidFill>
                  <a:srgbClr val="475569"/>
                </a:solidFill>
              </a:defRPr>
            </a:pPr>
            <a:r>
              <a:t>67% of commitments made in meetings are forgotten or never documented due to note-taking fatigue.</a:t>
            </a:r>
          </a:p>
          <a:p>
            <a:pPr>
              <a:spcBef>
                <a:spcPts val="800"/>
              </a:spcBef>
              <a:defRPr sz="1500" b="1">
                <a:solidFill>
                  <a:srgbClr val="0F172A"/>
                </a:solidFill>
              </a:defRPr>
            </a:pPr>
            <a:r>
              <a:t>⚠️  Multilingual Communication Breakdown</a:t>
            </a:r>
          </a:p>
          <a:p>
            <a:pPr>
              <a:spcAft>
                <a:spcPts val="800"/>
              </a:spcAft>
              <a:defRPr sz="1200">
                <a:solidFill>
                  <a:srgbClr val="475569"/>
                </a:solidFill>
              </a:defRPr>
            </a:pPr>
            <a:r>
              <a:t>Global teams speak mixed languages (Hindi, Hinglish, Spanish, French). Traditional English-only tools fail completely.</a:t>
            </a:r>
          </a:p>
          <a:p>
            <a:pPr>
              <a:spcBef>
                <a:spcPts val="800"/>
              </a:spcBef>
              <a:defRPr sz="1500" b="1">
                <a:solidFill>
                  <a:srgbClr val="0F172A"/>
                </a:solidFill>
              </a:defRPr>
            </a:pPr>
            <a:r>
              <a:t>⚠️  Disconnected Web Tools</a:t>
            </a:r>
          </a:p>
          <a:p>
            <a:pPr>
              <a:spcAft>
                <a:spcPts val="800"/>
              </a:spcAft>
              <a:defRPr sz="1200">
                <a:solidFill>
                  <a:srgbClr val="475569"/>
                </a:solidFill>
              </a:defRPr>
            </a:pPr>
            <a:r>
              <a:t>Having to open a separate browser tab distracts attendees from active participation in discussions.</a:t>
            </a:r>
          </a:p>
        </p:txBody>
      </p:sp>
      <p:pic>
        <p:nvPicPr>
          <p:cNvPr id="5" name="Picture 4" descr="slide2_comparison.png"/>
          <p:cNvPicPr>
            <a:picLocks noChangeAspect="1"/>
          </p:cNvPicPr>
          <p:nvPr/>
        </p:nvPicPr>
        <p:blipFill>
          <a:blip r:embed="rId2"/>
          <a:stretch>
            <a:fillRect/>
          </a:stretch>
        </p:blipFill>
        <p:spPr>
          <a:xfrm>
            <a:off x="6400800" y="1463040"/>
            <a:ext cx="5029200" cy="36322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2926080" cy="347472"/>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TECHNICAL ARCHITECTURE</a:t>
            </a:r>
          </a:p>
        </p:txBody>
      </p:sp>
      <p:sp>
        <p:nvSpPr>
          <p:cNvPr id="3" name="TextBox 2"/>
          <p:cNvSpPr txBox="1"/>
          <p:nvPr/>
        </p:nvSpPr>
        <p:spPr>
          <a:xfrm>
            <a:off x="731520" y="777240"/>
            <a:ext cx="10515600" cy="731520"/>
          </a:xfrm>
          <a:prstGeom prst="rect">
            <a:avLst/>
          </a:prstGeom>
          <a:noFill/>
        </p:spPr>
        <p:txBody>
          <a:bodyPr wrap="none">
            <a:spAutoFit/>
          </a:bodyPr>
          <a:lstStyle/>
          <a:p>
            <a:pPr>
              <a:defRPr sz="2800" b="1">
                <a:solidFill>
                  <a:srgbClr val="0F172A"/>
                </a:solidFill>
              </a:defRPr>
            </a:pPr>
            <a:r>
              <a:t>Edge &amp; Cloud Architecture: Low Latency, 100% Private</a:t>
            </a:r>
          </a:p>
        </p:txBody>
      </p:sp>
      <p:sp>
        <p:nvSpPr>
          <p:cNvPr id="4" name="TextBox 3"/>
          <p:cNvSpPr txBox="1"/>
          <p:nvPr/>
        </p:nvSpPr>
        <p:spPr>
          <a:xfrm>
            <a:off x="731520" y="1645920"/>
            <a:ext cx="5303520" cy="4389120"/>
          </a:xfrm>
          <a:prstGeom prst="rect">
            <a:avLst/>
          </a:prstGeom>
          <a:noFill/>
        </p:spPr>
        <p:txBody>
          <a:bodyPr wrap="square">
            <a:spAutoFit/>
          </a:bodyPr>
          <a:lstStyle/>
          <a:p/>
          <a:p>
            <a:pPr>
              <a:spcBef>
                <a:spcPts val="800"/>
              </a:spcBef>
              <a:defRPr sz="1500" b="1">
                <a:solidFill>
                  <a:srgbClr val="0F172A"/>
                </a:solidFill>
              </a:defRPr>
            </a:pPr>
            <a:r>
              <a:t>⚙️  Dual-Stream Web Audio Mixer</a:t>
            </a:r>
          </a:p>
          <a:p>
            <a:pPr>
              <a:spcAft>
                <a:spcPts val="800"/>
              </a:spcAft>
              <a:defRPr sz="1200">
                <a:solidFill>
                  <a:srgbClr val="475569"/>
                </a:solidFill>
              </a:defRPr>
            </a:pPr>
            <a:r>
              <a:t>Captures Windows WASAPI loopback audio (remote participants) and local microphone with real-time volume metering.</a:t>
            </a:r>
          </a:p>
          <a:p>
            <a:pPr>
              <a:spcBef>
                <a:spcPts val="800"/>
              </a:spcBef>
              <a:defRPr sz="1500" b="1">
                <a:solidFill>
                  <a:srgbClr val="0F172A"/>
                </a:solidFill>
              </a:defRPr>
            </a:pPr>
            <a:r>
              <a:t>⚙️  Faster-Whisper Multilingual STT</a:t>
            </a:r>
          </a:p>
          <a:p>
            <a:pPr>
              <a:spcAft>
                <a:spcPts val="800"/>
              </a:spcAft>
              <a:defRPr sz="1200">
                <a:solidFill>
                  <a:srgbClr val="475569"/>
                </a:solidFill>
              </a:defRPr>
            </a:pPr>
            <a:r>
              <a:t>CTranslate2-optimized local model runs directly on CPU/GPU. Automatically detects language without sending voice to the cloud.</a:t>
            </a:r>
          </a:p>
          <a:p>
            <a:pPr>
              <a:spcBef>
                <a:spcPts val="800"/>
              </a:spcBef>
              <a:defRPr sz="1500" b="1">
                <a:solidFill>
                  <a:srgbClr val="0F172A"/>
                </a:solidFill>
              </a:defRPr>
            </a:pPr>
            <a:r>
              <a:t>⚙️  NVIDIA NIM Cloud &amp; Ollama LLMs</a:t>
            </a:r>
          </a:p>
          <a:p>
            <a:pPr>
              <a:spcAft>
                <a:spcPts val="800"/>
              </a:spcAft>
              <a:defRPr sz="1200">
                <a:solidFill>
                  <a:srgbClr val="475569"/>
                </a:solidFill>
              </a:defRPr>
            </a:pPr>
            <a:r>
              <a:t>Integrates custom user-selected NVIDIA NIM models (Llama 3.3 70B, Qwen 2.5 72B) alongside local offline Ollama.</a:t>
            </a:r>
          </a:p>
          <a:p>
            <a:pPr>
              <a:spcBef>
                <a:spcPts val="800"/>
              </a:spcBef>
              <a:defRPr sz="1500" b="1">
                <a:solidFill>
                  <a:srgbClr val="0F172A"/>
                </a:solidFill>
              </a:defRPr>
            </a:pPr>
            <a:r>
              <a:t>⚙️  Zero-Hallucination Fallback</a:t>
            </a:r>
          </a:p>
          <a:p>
            <a:pPr>
              <a:spcAft>
                <a:spcPts val="800"/>
              </a:spcAft>
              <a:defRPr sz="1200">
                <a:solidFill>
                  <a:srgbClr val="475569"/>
                </a:solidFill>
              </a:defRPr>
            </a:pPr>
            <a:r>
              <a:t>Deterministic heuristic engine guarantees structured action items even if completely disconnected from the internet.</a:t>
            </a:r>
          </a:p>
        </p:txBody>
      </p:sp>
      <p:pic>
        <p:nvPicPr>
          <p:cNvPr id="5" name="Picture 4" descr="slide3_architecture.png"/>
          <p:cNvPicPr>
            <a:picLocks noChangeAspect="1"/>
          </p:cNvPicPr>
          <p:nvPr/>
        </p:nvPicPr>
        <p:blipFill>
          <a:blip r:embed="rId2"/>
          <a:stretch>
            <a:fillRect/>
          </a:stretch>
        </p:blipFill>
        <p:spPr>
          <a:xfrm>
            <a:off x="6309360" y="1463040"/>
            <a:ext cx="5120640" cy="369824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2926080" cy="347472"/>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LIVE ASSISTANT</a:t>
            </a:r>
          </a:p>
        </p:txBody>
      </p:sp>
      <p:sp>
        <p:nvSpPr>
          <p:cNvPr id="3" name="TextBox 2"/>
          <p:cNvSpPr txBox="1"/>
          <p:nvPr/>
        </p:nvSpPr>
        <p:spPr>
          <a:xfrm>
            <a:off x="731520" y="777240"/>
            <a:ext cx="10515600" cy="731520"/>
          </a:xfrm>
          <a:prstGeom prst="rect">
            <a:avLst/>
          </a:prstGeom>
          <a:noFill/>
        </p:spPr>
        <p:txBody>
          <a:bodyPr wrap="none">
            <a:spAutoFit/>
          </a:bodyPr>
          <a:lstStyle/>
          <a:p>
            <a:pPr>
              <a:defRPr sz="2800" b="1">
                <a:solidFill>
                  <a:srgbClr val="0F172A"/>
                </a:solidFill>
              </a:defRPr>
            </a:pPr>
            <a:r>
              <a:t>Real-Time Meeting Assistant &amp; Multilingual Detection</a:t>
            </a:r>
          </a:p>
        </p:txBody>
      </p:sp>
      <p:sp>
        <p:nvSpPr>
          <p:cNvPr id="4" name="TextBox 3"/>
          <p:cNvSpPr txBox="1"/>
          <p:nvPr/>
        </p:nvSpPr>
        <p:spPr>
          <a:xfrm>
            <a:off x="731520" y="1645920"/>
            <a:ext cx="5303520" cy="4389120"/>
          </a:xfrm>
          <a:prstGeom prst="rect">
            <a:avLst/>
          </a:prstGeom>
          <a:noFill/>
        </p:spPr>
        <p:txBody>
          <a:bodyPr wrap="square">
            <a:spAutoFit/>
          </a:bodyPr>
          <a:lstStyle/>
          <a:p/>
          <a:p>
            <a:pPr>
              <a:spcBef>
                <a:spcPts val="800"/>
              </a:spcBef>
              <a:defRPr sz="1500" b="1">
                <a:solidFill>
                  <a:srgbClr val="0F172A"/>
                </a:solidFill>
              </a:defRPr>
            </a:pPr>
            <a:r>
              <a:t>🌐  Automatic Multi-Language Detection</a:t>
            </a:r>
          </a:p>
          <a:p>
            <a:pPr>
              <a:spcAft>
                <a:spcPts val="800"/>
              </a:spcAft>
              <a:defRPr sz="1200">
                <a:solidFill>
                  <a:srgbClr val="475569"/>
                </a:solidFill>
              </a:defRPr>
            </a:pPr>
            <a:r>
              <a:t>Instant badge displays detected language (e.g. Hindi 98%, English 99%), handling code-switched Hinglish effortlessly.</a:t>
            </a:r>
          </a:p>
          <a:p>
            <a:pPr>
              <a:spcBef>
                <a:spcPts val="800"/>
              </a:spcBef>
              <a:defRPr sz="1500" b="1">
                <a:solidFill>
                  <a:srgbClr val="0F172A"/>
                </a:solidFill>
              </a:defRPr>
            </a:pPr>
            <a:r>
              <a:t>🌐  Real-Time Dual Audio Visualizer</a:t>
            </a:r>
          </a:p>
          <a:p>
            <a:pPr>
              <a:spcAft>
                <a:spcPts val="800"/>
              </a:spcAft>
              <a:defRPr sz="1200">
                <a:solidFill>
                  <a:srgbClr val="475569"/>
                </a:solidFill>
              </a:defRPr>
            </a:pPr>
            <a:r>
              <a:t>Dynamic decibel meters provide immediate visual feedback that your microphone and speaker loopback are active.</a:t>
            </a:r>
          </a:p>
          <a:p>
            <a:pPr>
              <a:spcBef>
                <a:spcPts val="800"/>
              </a:spcBef>
              <a:defRPr sz="1500" b="1">
                <a:solidFill>
                  <a:srgbClr val="0F172A"/>
                </a:solidFill>
              </a:defRPr>
            </a:pPr>
            <a:r>
              <a:t>🌐  Instant Task &amp; Decision Notifications</a:t>
            </a:r>
          </a:p>
          <a:p>
            <a:pPr>
              <a:spcAft>
                <a:spcPts val="800"/>
              </a:spcAft>
              <a:defRPr sz="1200">
                <a:solidFill>
                  <a:srgbClr val="475569"/>
                </a:solidFill>
              </a:defRPr>
            </a:pPr>
            <a:r>
              <a:t>As soon as a participant says 'I will complete the API by Friday', Talk2Tasks extracts owner, task, and deadline.</a:t>
            </a:r>
          </a:p>
          <a:p>
            <a:pPr>
              <a:spcBef>
                <a:spcPts val="800"/>
              </a:spcBef>
              <a:defRPr sz="1500" b="1">
                <a:solidFill>
                  <a:srgbClr val="0F172A"/>
                </a:solidFill>
              </a:defRPr>
            </a:pPr>
            <a:r>
              <a:t>🌐  In-Meeting Grounded Q&amp;A</a:t>
            </a:r>
          </a:p>
          <a:p>
            <a:pPr>
              <a:spcAft>
                <a:spcPts val="800"/>
              </a:spcAft>
              <a:defRPr sz="1200">
                <a:solidFill>
                  <a:srgbClr val="475569"/>
                </a:solidFill>
              </a:defRPr>
            </a:pPr>
            <a:r>
              <a:t>Ask questions during the call (e.g. 'What did Rahul say about the budget?'); receives answers strictly grounded in transcript quotes.</a:t>
            </a:r>
          </a:p>
        </p:txBody>
      </p:sp>
      <p:pic>
        <p:nvPicPr>
          <p:cNvPr id="5" name="Picture 4" descr="slide4_live_assistant.png"/>
          <p:cNvPicPr>
            <a:picLocks noChangeAspect="1"/>
          </p:cNvPicPr>
          <p:nvPr/>
        </p:nvPicPr>
        <p:blipFill>
          <a:blip r:embed="rId2"/>
          <a:stretch>
            <a:fillRect/>
          </a:stretch>
        </p:blipFill>
        <p:spPr>
          <a:xfrm>
            <a:off x="6309360" y="1463040"/>
            <a:ext cx="5120640" cy="369824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2926080" cy="347472"/>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DESKTOP MASCOT</a:t>
            </a:r>
          </a:p>
        </p:txBody>
      </p:sp>
      <p:sp>
        <p:nvSpPr>
          <p:cNvPr id="3" name="TextBox 2"/>
          <p:cNvSpPr txBox="1"/>
          <p:nvPr/>
        </p:nvSpPr>
        <p:spPr>
          <a:xfrm>
            <a:off x="731520" y="777240"/>
            <a:ext cx="10515600" cy="731520"/>
          </a:xfrm>
          <a:prstGeom prst="rect">
            <a:avLst/>
          </a:prstGeom>
          <a:noFill/>
        </p:spPr>
        <p:txBody>
          <a:bodyPr wrap="none">
            <a:spAutoFit/>
          </a:bodyPr>
          <a:lstStyle/>
          <a:p>
            <a:pPr>
              <a:defRPr sz="2800" b="1">
                <a:solidFill>
                  <a:srgbClr val="0F172A"/>
                </a:solidFill>
              </a:defRPr>
            </a:pPr>
            <a:r>
              <a:t>Talki: The Transparent Interactive Desktop Co-Pilot</a:t>
            </a:r>
          </a:p>
        </p:txBody>
      </p:sp>
      <p:sp>
        <p:nvSpPr>
          <p:cNvPr id="4" name="TextBox 3"/>
          <p:cNvSpPr txBox="1"/>
          <p:nvPr/>
        </p:nvSpPr>
        <p:spPr>
          <a:xfrm>
            <a:off x="731520" y="1645920"/>
            <a:ext cx="5303520" cy="4389120"/>
          </a:xfrm>
          <a:prstGeom prst="rect">
            <a:avLst/>
          </a:prstGeom>
          <a:noFill/>
        </p:spPr>
        <p:txBody>
          <a:bodyPr wrap="square">
            <a:spAutoFit/>
          </a:bodyPr>
          <a:lstStyle/>
          <a:p/>
          <a:p>
            <a:pPr>
              <a:spcBef>
                <a:spcPts val="800"/>
              </a:spcBef>
              <a:defRPr sz="1500" b="1">
                <a:solidFill>
                  <a:srgbClr val="0F172A"/>
                </a:solidFill>
              </a:defRPr>
            </a:pPr>
            <a:r>
              <a:t>🐾  Transparent Borderless Desktop Window</a:t>
            </a:r>
          </a:p>
          <a:p>
            <a:pPr>
              <a:spcAft>
                <a:spcPts val="800"/>
              </a:spcAft>
              <a:defRPr sz="1200">
                <a:solidFill>
                  <a:srgbClr val="475569"/>
                </a:solidFill>
              </a:defRPr>
            </a:pPr>
            <a:r>
              <a:t>Electron window with transparent canvas; only the cute mascot and speech bubbles hover over your screen.</a:t>
            </a:r>
          </a:p>
          <a:p>
            <a:pPr>
              <a:spcBef>
                <a:spcPts val="800"/>
              </a:spcBef>
              <a:defRPr sz="1500" b="1">
                <a:solidFill>
                  <a:srgbClr val="0F172A"/>
                </a:solidFill>
              </a:defRPr>
            </a:pPr>
            <a:r>
              <a:t>🐾  Dynamic Reactive Animation States</a:t>
            </a:r>
          </a:p>
          <a:p>
            <a:pPr>
              <a:spcAft>
                <a:spcPts val="800"/>
              </a:spcAft>
              <a:defRPr sz="1200">
                <a:solidFill>
                  <a:srgbClr val="475569"/>
                </a:solidFill>
              </a:defRPr>
            </a:pPr>
            <a:r>
              <a:t>Talki changes states dynamically: Idle breathing, Listening audio pulse, Thinking gear animation, and Alerting speech bubble.</a:t>
            </a:r>
          </a:p>
          <a:p>
            <a:pPr>
              <a:spcBef>
                <a:spcPts val="800"/>
              </a:spcBef>
              <a:defRPr sz="1500" b="1">
                <a:solidFill>
                  <a:srgbClr val="0F172A"/>
                </a:solidFill>
              </a:defRPr>
            </a:pPr>
            <a:r>
              <a:t>🐾  In-Meeting Speech Bubble Alerts</a:t>
            </a:r>
          </a:p>
          <a:p>
            <a:pPr>
              <a:spcAft>
                <a:spcPts val="800"/>
              </a:spcAft>
              <a:defRPr sz="1200">
                <a:solidFill>
                  <a:srgbClr val="475569"/>
                </a:solidFill>
              </a:defRPr>
            </a:pPr>
            <a:r>
              <a:t>Whenever an action item or deadline is identified, Talki pops up a notification right over your Google Meet / Zoom window.</a:t>
            </a:r>
          </a:p>
          <a:p>
            <a:pPr>
              <a:spcBef>
                <a:spcPts val="800"/>
              </a:spcBef>
              <a:defRPr sz="1500" b="1">
                <a:solidFill>
                  <a:srgbClr val="0F172A"/>
                </a:solidFill>
              </a:defRPr>
            </a:pPr>
            <a:r>
              <a:t>🐾  Glassmorphic One-Click Dock</a:t>
            </a:r>
          </a:p>
          <a:p>
            <a:pPr>
              <a:spcAft>
                <a:spcPts val="800"/>
              </a:spcAft>
              <a:defRPr sz="1200">
                <a:solidFill>
                  <a:srgbClr val="475569"/>
                </a:solidFill>
              </a:defRPr>
            </a:pPr>
            <a:r>
              <a:t>Hovering over Talki reveals quick actions: End Recording, Open Dashboard, View Live Transcripts, or Toggle Mute.</a:t>
            </a:r>
          </a:p>
        </p:txBody>
      </p:sp>
      <p:pic>
        <p:nvPicPr>
          <p:cNvPr id="5" name="Picture 4" descr="slide5_mascot.png"/>
          <p:cNvPicPr>
            <a:picLocks noChangeAspect="1"/>
          </p:cNvPicPr>
          <p:nvPr/>
        </p:nvPicPr>
        <p:blipFill>
          <a:blip r:embed="rId2"/>
          <a:stretch>
            <a:fillRect/>
          </a:stretch>
        </p:blipFill>
        <p:spPr>
          <a:xfrm>
            <a:off x="6309360" y="1463040"/>
            <a:ext cx="5120640" cy="369824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731520" y="411480"/>
            <a:ext cx="2926080" cy="347472"/>
          </a:xfrm>
          <a:prstGeom prst="roundRect">
            <a:avLst/>
          </a:prstGeom>
          <a:solidFill>
            <a:srgbClr val="EFF6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00" b="1">
                <a:solidFill>
                  <a:srgbClr val="2563EB"/>
                </a:solidFill>
              </a:defRPr>
            </a:pPr>
            <a:r>
              <a:t>OUTCOMES &amp; VALUE</a:t>
            </a:r>
          </a:p>
        </p:txBody>
      </p:sp>
      <p:sp>
        <p:nvSpPr>
          <p:cNvPr id="3" name="TextBox 2"/>
          <p:cNvSpPr txBox="1"/>
          <p:nvPr/>
        </p:nvSpPr>
        <p:spPr>
          <a:xfrm>
            <a:off x="731520" y="777240"/>
            <a:ext cx="10515600" cy="731520"/>
          </a:xfrm>
          <a:prstGeom prst="rect">
            <a:avLst/>
          </a:prstGeom>
          <a:noFill/>
        </p:spPr>
        <p:txBody>
          <a:bodyPr wrap="none">
            <a:spAutoFit/>
          </a:bodyPr>
          <a:lstStyle/>
          <a:p>
            <a:pPr>
              <a:defRPr sz="2800" b="1">
                <a:solidFill>
                  <a:srgbClr val="0F172A"/>
                </a:solidFill>
              </a:defRPr>
            </a:pPr>
            <a:r>
              <a:t>Deliverables, Enterprise Security &amp; Future Roadmap</a:t>
            </a:r>
          </a:p>
        </p:txBody>
      </p:sp>
      <p:sp>
        <p:nvSpPr>
          <p:cNvPr id="4" name="TextBox 3"/>
          <p:cNvSpPr txBox="1"/>
          <p:nvPr/>
        </p:nvSpPr>
        <p:spPr>
          <a:xfrm>
            <a:off x="731520" y="1645920"/>
            <a:ext cx="5303520" cy="4389120"/>
          </a:xfrm>
          <a:prstGeom prst="rect">
            <a:avLst/>
          </a:prstGeom>
          <a:noFill/>
        </p:spPr>
        <p:txBody>
          <a:bodyPr wrap="square">
            <a:spAutoFit/>
          </a:bodyPr>
          <a:lstStyle/>
          <a:p/>
          <a:p>
            <a:pPr>
              <a:spcBef>
                <a:spcPts val="800"/>
              </a:spcBef>
              <a:defRPr sz="1500" b="1">
                <a:solidFill>
                  <a:srgbClr val="0F172A"/>
                </a:solidFill>
              </a:defRPr>
            </a:pPr>
            <a:r>
              <a:t>🚀  1-Click Follow-Up Email Generation</a:t>
            </a:r>
          </a:p>
          <a:p>
            <a:pPr>
              <a:spcAft>
                <a:spcPts val="800"/>
              </a:spcAft>
              <a:defRPr sz="1200">
                <a:solidFill>
                  <a:srgbClr val="475569"/>
                </a:solidFill>
              </a:defRPr>
            </a:pPr>
            <a:r>
              <a:t>Pre-composes structured executive recap emails including summary, decisions, and assigned tasks ready to send.</a:t>
            </a:r>
          </a:p>
          <a:p>
            <a:pPr>
              <a:spcBef>
                <a:spcPts val="800"/>
              </a:spcBef>
              <a:defRPr sz="1500" b="1">
                <a:solidFill>
                  <a:srgbClr val="0F172A"/>
                </a:solidFill>
              </a:defRPr>
            </a:pPr>
            <a:r>
              <a:t>🚀  Action Items Table with Confidence</a:t>
            </a:r>
          </a:p>
          <a:p>
            <a:pPr>
              <a:spcAft>
                <a:spcPts val="800"/>
              </a:spcAft>
              <a:defRPr sz="1200">
                <a:solidFill>
                  <a:srgbClr val="475569"/>
                </a:solidFill>
              </a:defRPr>
            </a:pPr>
            <a:r>
              <a:t>Categorizes task description, assigned owner, due date, and transcript quote with AI confidence scores.</a:t>
            </a:r>
          </a:p>
          <a:p>
            <a:pPr>
              <a:spcBef>
                <a:spcPts val="800"/>
              </a:spcBef>
              <a:defRPr sz="1500" b="1">
                <a:solidFill>
                  <a:srgbClr val="0F172A"/>
                </a:solidFill>
              </a:defRPr>
            </a:pPr>
            <a:r>
              <a:t>🚀  Markdown &amp; SQLite Persistence</a:t>
            </a:r>
          </a:p>
          <a:p>
            <a:pPr>
              <a:spcAft>
                <a:spcPts val="800"/>
              </a:spcAft>
              <a:defRPr sz="1200">
                <a:solidFill>
                  <a:srgbClr val="475569"/>
                </a:solidFill>
              </a:defRPr>
            </a:pPr>
            <a:r>
              <a:t>Full meeting history, audio metadata, and transcript searchable offline anytime.</a:t>
            </a:r>
          </a:p>
          <a:p>
            <a:pPr>
              <a:spcBef>
                <a:spcPts val="800"/>
              </a:spcBef>
              <a:defRPr sz="1500" b="1">
                <a:solidFill>
                  <a:srgbClr val="0F172A"/>
                </a:solidFill>
              </a:defRPr>
            </a:pPr>
            <a:r>
              <a:t>🚀  Future Roadmap</a:t>
            </a:r>
          </a:p>
          <a:p>
            <a:pPr>
              <a:spcAft>
                <a:spcPts val="800"/>
              </a:spcAft>
              <a:defRPr sz="1200">
                <a:solidFill>
                  <a:srgbClr val="475569"/>
                </a:solidFill>
              </a:defRPr>
            </a:pPr>
            <a:r>
              <a:t>• Speaker Diarization (Voiceprint)</a:t>
            </a:r>
            <a:br/>
            <a:r>
              <a:t>• Direct Jira/Linear/Slack webhook sync</a:t>
            </a:r>
            <a:br/>
            <a:r>
              <a:t>• Automatic Outlook &amp; Google Calendar listener</a:t>
            </a:r>
          </a:p>
        </p:txBody>
      </p:sp>
      <p:pic>
        <p:nvPicPr>
          <p:cNvPr id="5" name="Picture 4" descr="slide6_outcomes.png"/>
          <p:cNvPicPr>
            <a:picLocks noChangeAspect="1"/>
          </p:cNvPicPr>
          <p:nvPr/>
        </p:nvPicPr>
        <p:blipFill>
          <a:blip r:embed="rId2"/>
          <a:stretch>
            <a:fillRect/>
          </a:stretch>
        </p:blipFill>
        <p:spPr>
          <a:xfrm>
            <a:off x="6309360" y="1463040"/>
            <a:ext cx="5120640" cy="36982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